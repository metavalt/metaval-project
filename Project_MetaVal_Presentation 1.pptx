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4" r:id="rId8"/>
    <p:sldId id="265" r:id="rId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6906" autoAdjust="0"/>
  </p:normalViewPr>
  <p:slideViewPr>
    <p:cSldViewPr snapToGrid="0" snapToObjects="1">
      <p:cViewPr>
        <p:scale>
          <a:sx n="75" d="100"/>
          <a:sy n="75" d="100"/>
        </p:scale>
        <p:origin x="30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A8AB9A-9923-478C-ACB7-55B27C456C1E}" type="datetimeFigureOut">
              <a:rPr lang="en-IN" smtClean="0"/>
              <a:t>21-05-2026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6E085F-3BD9-4702-A160-5C1D9225290F}" type="slidenum">
              <a:rPr lang="en-IN" smtClean="0"/>
              <a:t>‹#›</a:t>
            </a:fld>
            <a:endParaRPr lang="en-IN"/>
          </a:p>
        </p:txBody>
      </p:sp>
    </p:spTree>
    <p:extLst>
      <p:ext uri="{BB962C8B-B14F-4D97-AF65-F5344CB8AC3E}">
        <p14:creationId xmlns:p14="http://schemas.microsoft.com/office/powerpoint/2010/main" val="2525944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Purpose is to lean process to freeze accountability </a:t>
            </a:r>
            <a:br>
              <a:rPr lang="en-GB" dirty="0"/>
            </a:br>
            <a:r>
              <a:rPr lang="en-GB" dirty="0" err="1"/>
              <a:t>rfq</a:t>
            </a:r>
            <a:r>
              <a:rPr lang="en-GB" dirty="0"/>
              <a:t> reply time lead time will reduce</a:t>
            </a:r>
            <a:br>
              <a:rPr lang="en-GB" dirty="0"/>
            </a:br>
            <a:r>
              <a:rPr lang="en-GB" dirty="0"/>
              <a:t>non </a:t>
            </a:r>
            <a:r>
              <a:rPr lang="en-GB" dirty="0" err="1"/>
              <a:t>rpdustive</a:t>
            </a:r>
            <a:r>
              <a:rPr lang="en-GB" dirty="0"/>
              <a:t> activities will be killed</a:t>
            </a:r>
            <a:br>
              <a:rPr lang="en-GB" dirty="0"/>
            </a:br>
            <a:r>
              <a:rPr lang="en-GB" dirty="0"/>
              <a:t>help in increasing business</a:t>
            </a:r>
            <a:br>
              <a:rPr lang="en-GB" dirty="0"/>
            </a:br>
            <a:r>
              <a:rPr lang="en-GB" dirty="0"/>
              <a:t>monitoring at one place</a:t>
            </a:r>
            <a:br>
              <a:rPr lang="en-GB" dirty="0"/>
            </a:br>
            <a:r>
              <a:rPr lang="en-GB" dirty="0"/>
              <a:t>responsibility is also defined along with accountability, traceability improve.( ERP </a:t>
            </a:r>
            <a:br>
              <a:rPr lang="en-GB" dirty="0"/>
            </a:br>
            <a:r>
              <a:rPr lang="en-GB" dirty="0"/>
              <a:t>success ratio </a:t>
            </a:r>
            <a:br>
              <a:rPr lang="en-GB" dirty="0"/>
            </a:br>
            <a:endParaRPr lang="en-IN" dirty="0"/>
          </a:p>
        </p:txBody>
      </p:sp>
      <p:sp>
        <p:nvSpPr>
          <p:cNvPr id="4" name="Slide Number Placeholder 3"/>
          <p:cNvSpPr>
            <a:spLocks noGrp="1"/>
          </p:cNvSpPr>
          <p:nvPr>
            <p:ph type="sldNum" sz="quarter" idx="5"/>
          </p:nvPr>
        </p:nvSpPr>
        <p:spPr/>
        <p:txBody>
          <a:bodyPr/>
          <a:lstStyle/>
          <a:p>
            <a:fld id="{EB6E085F-3BD9-4702-A160-5C1D9225290F}" type="slidenum">
              <a:rPr lang="en-IN" smtClean="0"/>
              <a:t>2</a:t>
            </a:fld>
            <a:endParaRPr lang="en-IN"/>
          </a:p>
        </p:txBody>
      </p:sp>
    </p:spTree>
    <p:extLst>
      <p:ext uri="{BB962C8B-B14F-4D97-AF65-F5344CB8AC3E}">
        <p14:creationId xmlns:p14="http://schemas.microsoft.com/office/powerpoint/2010/main" val="2088320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116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0152" cy="3570208"/>
          </a:xfrm>
          <a:prstGeom prst="rect">
            <a:avLst/>
          </a:prstGeom>
          <a:noFill/>
        </p:spPr>
        <p:txBody>
          <a:bodyPr wrap="square">
            <a:spAutoFit/>
          </a:bodyPr>
          <a:lstStyle/>
          <a:p>
            <a:pPr>
              <a:spcAft>
                <a:spcPts val="2000"/>
              </a:spcAft>
              <a:defRPr sz="4000" b="1">
                <a:solidFill>
                  <a:srgbClr val="F0F2F5"/>
                </a:solidFill>
                <a:latin typeface="Arial"/>
              </a:defRPr>
            </a:pPr>
            <a:r>
              <a:rPr sz="4800" dirty="0"/>
              <a:t>Project </a:t>
            </a:r>
            <a:r>
              <a:rPr sz="4800" dirty="0" err="1"/>
              <a:t>MetaVal</a:t>
            </a:r>
            <a:r>
              <a:rPr sz="4800" dirty="0"/>
              <a:t>: Enterprise Email &amp; PDF Data Automation</a:t>
            </a:r>
          </a:p>
          <a:p>
            <a:pPr>
              <a:spcAft>
                <a:spcPts val="4000"/>
              </a:spcAft>
              <a:defRPr sz="1800">
                <a:solidFill>
                  <a:srgbClr val="10B981"/>
                </a:solidFill>
                <a:latin typeface="Arial"/>
              </a:defRPr>
            </a:pPr>
            <a:r>
              <a:rPr sz="2400" dirty="0"/>
              <a:t>Eliminating Manual Data Entry via AI-Powered Extraction &amp; Human-in-the-Loop Validation</a:t>
            </a:r>
          </a:p>
          <a:p>
            <a:pPr>
              <a:defRPr sz="1400">
                <a:solidFill>
                  <a:srgbClr val="8A99A8"/>
                </a:solidFill>
                <a:latin typeface="Arial"/>
              </a:defRPr>
            </a:pPr>
            <a:r>
              <a:rPr dirty="0"/>
              <a:t>Prepared for Manufacturing Operations Stakeholders</a:t>
            </a:r>
            <a:br>
              <a:rPr dirty="0"/>
            </a:br>
            <a:r>
              <a:rPr dirty="0"/>
              <a:t>Technical Roadmap &amp; Interactive Dashboard Blueprint</a:t>
            </a:r>
          </a:p>
        </p:txBody>
      </p:sp>
      <p:pic>
        <p:nvPicPr>
          <p:cNvPr id="7" name="Picture 6">
            <a:extLst>
              <a:ext uri="{FF2B5EF4-FFF2-40B4-BE49-F238E27FC236}">
                <a16:creationId xmlns:a16="http://schemas.microsoft.com/office/drawing/2014/main" id="{3525DC43-F4E7-2FD2-37D3-522A2E67498A}"/>
              </a:ext>
            </a:extLst>
          </p:cNvPr>
          <p:cNvPicPr>
            <a:picLocks noChangeAspect="1"/>
          </p:cNvPicPr>
          <p:nvPr/>
        </p:nvPicPr>
        <p:blipFill>
          <a:blip r:embed="rId2"/>
          <a:stretch>
            <a:fillRect/>
          </a:stretch>
        </p:blipFill>
        <p:spPr>
          <a:xfrm>
            <a:off x="10328910" y="237484"/>
            <a:ext cx="1603114" cy="76835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116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1463040"/>
            <a:ext cx="5303520" cy="4754880"/>
          </a:xfrm>
          <a:prstGeom prst="rect">
            <a:avLst/>
          </a:prstGeom>
          <a:solidFill>
            <a:srgbClr val="1E2630"/>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ctr">
              <a:spcAft>
                <a:spcPts val="1400"/>
              </a:spcAft>
              <a:defRPr sz="1400" b="1">
                <a:solidFill>
                  <a:srgbClr val="F59E0B"/>
                </a:solidFill>
              </a:defRPr>
            </a:pPr>
            <a:r>
              <a:rPr lang="en-GB" dirty="0"/>
              <a:t>CURRENT SCENARIO( MANUAL)</a:t>
            </a:r>
            <a:endParaRPr dirty="0"/>
          </a:p>
          <a:p>
            <a:pPr>
              <a:spcAft>
                <a:spcPts val="1200"/>
              </a:spcAft>
              <a:defRPr sz="1200">
                <a:solidFill>
                  <a:srgbClr val="F0F2F5"/>
                </a:solidFill>
              </a:defRPr>
            </a:pPr>
            <a:r>
              <a:rPr sz="1400" dirty="0"/>
              <a:t>• </a:t>
            </a:r>
            <a:r>
              <a:rPr lang="en-GB" sz="1400" dirty="0"/>
              <a:t>various</a:t>
            </a:r>
            <a:r>
              <a:rPr sz="1400" dirty="0"/>
              <a:t> Formats: </a:t>
            </a:r>
            <a:r>
              <a:rPr lang="en-GB" sz="1400" dirty="0"/>
              <a:t>client </a:t>
            </a:r>
            <a:r>
              <a:rPr sz="1400" dirty="0"/>
              <a:t>s</a:t>
            </a:r>
            <a:r>
              <a:rPr lang="en-GB" sz="1400" dirty="0" err="1"/>
              <a:t>ubmit</a:t>
            </a:r>
            <a:r>
              <a:rPr lang="en-GB" sz="1400" dirty="0"/>
              <a:t> enquiries</a:t>
            </a:r>
            <a:r>
              <a:rPr sz="1400" dirty="0"/>
              <a:t>, packing lists, and order sheets with completely chaotic, shifting column layouts.</a:t>
            </a:r>
          </a:p>
          <a:p>
            <a:pPr>
              <a:spcAft>
                <a:spcPts val="1200"/>
              </a:spcAft>
              <a:defRPr sz="1200">
                <a:solidFill>
                  <a:srgbClr val="F0F2F5"/>
                </a:solidFill>
              </a:defRPr>
            </a:pPr>
            <a:r>
              <a:rPr sz="1400" dirty="0"/>
              <a:t>• High-Volume Spikes: Documents scaling unpredictably from 10 to 500 pages, fluctuating between digital text and flat scanned image files.</a:t>
            </a:r>
          </a:p>
          <a:p>
            <a:pPr>
              <a:spcAft>
                <a:spcPts val="1200"/>
              </a:spcAft>
              <a:defRPr sz="1200">
                <a:solidFill>
                  <a:srgbClr val="F0F2F5"/>
                </a:solidFill>
              </a:defRPr>
            </a:pPr>
            <a:r>
              <a:rPr sz="1400" dirty="0"/>
              <a:t>• The Manual Bottleneck: Hand-mapping mismatched labels (e.g., 'Qnty', 'QTY', 'Quantity') introduces extreme human error and latency.</a:t>
            </a:r>
          </a:p>
        </p:txBody>
      </p:sp>
      <p:sp>
        <p:nvSpPr>
          <p:cNvPr id="5" name="Rectangle 4"/>
          <p:cNvSpPr/>
          <p:nvPr/>
        </p:nvSpPr>
        <p:spPr>
          <a:xfrm>
            <a:off x="6336792" y="1463040"/>
            <a:ext cx="5303520" cy="4754880"/>
          </a:xfrm>
          <a:prstGeom prst="rect">
            <a:avLst/>
          </a:prstGeom>
          <a:solidFill>
            <a:srgbClr val="1E2630"/>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ctr">
              <a:spcAft>
                <a:spcPts val="1400"/>
              </a:spcAft>
              <a:defRPr sz="1400" b="1">
                <a:solidFill>
                  <a:srgbClr val="10B981"/>
                </a:solidFill>
              </a:defRPr>
            </a:pPr>
            <a:r>
              <a:rPr lang="en-GB" dirty="0"/>
              <a:t>PROPOSED SCENARIO ( AUTOMATION)</a:t>
            </a:r>
            <a:endParaRPr dirty="0"/>
          </a:p>
          <a:p>
            <a:pPr>
              <a:spcAft>
                <a:spcPts val="1200"/>
              </a:spcAft>
              <a:defRPr sz="1200">
                <a:solidFill>
                  <a:srgbClr val="F0F2F5"/>
                </a:solidFill>
              </a:defRPr>
            </a:pPr>
            <a:r>
              <a:rPr sz="1600" dirty="0"/>
              <a:t>• Automated Data Pipeline: A robust JavaScript-driven engine that intercepts email attachments directly as they arrive.</a:t>
            </a:r>
          </a:p>
          <a:p>
            <a:pPr>
              <a:spcAft>
                <a:spcPts val="1200"/>
              </a:spcAft>
              <a:defRPr sz="1200">
                <a:solidFill>
                  <a:srgbClr val="F0F2F5"/>
                </a:solidFill>
              </a:defRPr>
            </a:pPr>
            <a:r>
              <a:rPr sz="1600" dirty="0"/>
              <a:t>• Asynchronous Processing: Offloads document calculation into an isolated background worker queue to protect system stability.</a:t>
            </a:r>
          </a:p>
          <a:p>
            <a:pPr>
              <a:spcAft>
                <a:spcPts val="1200"/>
              </a:spcAft>
              <a:defRPr sz="1200">
                <a:solidFill>
                  <a:srgbClr val="F0F2F5"/>
                </a:solidFill>
              </a:defRPr>
            </a:pPr>
            <a:r>
              <a:rPr sz="1600" dirty="0"/>
              <a:t>• Self-Learning Layer: Employs a fuzzy matching translation index to align messy supplier headings to our fixed schema effortlessly.</a:t>
            </a:r>
          </a:p>
        </p:txBody>
      </p:sp>
      <p:pic>
        <p:nvPicPr>
          <p:cNvPr id="6" name="Picture 5">
            <a:extLst>
              <a:ext uri="{FF2B5EF4-FFF2-40B4-BE49-F238E27FC236}">
                <a16:creationId xmlns:a16="http://schemas.microsoft.com/office/drawing/2014/main" id="{480053A2-8C06-28A9-250C-A51AF26A39E1}"/>
              </a:ext>
            </a:extLst>
          </p:cNvPr>
          <p:cNvPicPr>
            <a:picLocks noChangeAspect="1"/>
          </p:cNvPicPr>
          <p:nvPr/>
        </p:nvPicPr>
        <p:blipFill>
          <a:blip r:embed="rId3"/>
          <a:stretch>
            <a:fillRect/>
          </a:stretch>
        </p:blipFill>
        <p:spPr>
          <a:xfrm>
            <a:off x="10342155" y="255902"/>
            <a:ext cx="1603114" cy="76835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116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972800" cy="731520"/>
          </a:xfrm>
          <a:prstGeom prst="rect">
            <a:avLst/>
          </a:prstGeom>
          <a:noFill/>
        </p:spPr>
        <p:txBody>
          <a:bodyPr wrap="square">
            <a:spAutoFit/>
          </a:bodyPr>
          <a:lstStyle/>
          <a:p>
            <a:pPr>
              <a:defRPr sz="3200" b="1">
                <a:solidFill>
                  <a:srgbClr val="F0F2F5"/>
                </a:solidFill>
                <a:latin typeface="Arial"/>
              </a:defRPr>
            </a:pPr>
            <a:r>
              <a:t>Technical Architecture &amp; Core Dependencies</a:t>
            </a:r>
          </a:p>
        </p:txBody>
      </p:sp>
      <p:sp>
        <p:nvSpPr>
          <p:cNvPr id="4" name="Rectangle 3"/>
          <p:cNvSpPr/>
          <p:nvPr/>
        </p:nvSpPr>
        <p:spPr>
          <a:xfrm>
            <a:off x="548640" y="1828800"/>
            <a:ext cx="2468880" cy="4114800"/>
          </a:xfrm>
          <a:prstGeom prst="rect">
            <a:avLst/>
          </a:prstGeom>
          <a:solidFill>
            <a:srgbClr val="1E2630"/>
          </a:solidFill>
          <a:ln w="12700">
            <a:solidFill>
              <a:srgbClr val="8A99A8"/>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spcAft>
                <a:spcPts val="600"/>
              </a:spcAft>
              <a:defRPr sz="3600" b="1">
                <a:solidFill>
                  <a:srgbClr val="10B981"/>
                </a:solidFill>
              </a:defRPr>
            </a:pPr>
            <a:r>
              <a:rPr dirty="0"/>
              <a:t>01</a:t>
            </a:r>
          </a:p>
          <a:p>
            <a:pPr>
              <a:spcAft>
                <a:spcPts val="1200"/>
              </a:spcAft>
              <a:defRPr sz="1400" b="1">
                <a:solidFill>
                  <a:srgbClr val="F0F2F5"/>
                </a:solidFill>
              </a:defRPr>
            </a:pPr>
            <a:r>
              <a:rPr dirty="0"/>
              <a:t>Ingestion &amp; Guarding</a:t>
            </a:r>
          </a:p>
          <a:p>
            <a:pPr>
              <a:defRPr sz="1100">
                <a:solidFill>
                  <a:srgbClr val="8A99A8"/>
                </a:solidFill>
              </a:defRPr>
            </a:pPr>
            <a:r>
              <a:rPr dirty="0" err="1"/>
              <a:t>multer</a:t>
            </a:r>
            <a:r>
              <a:rPr dirty="0"/>
              <a:t> handles file streams securely. </a:t>
            </a:r>
            <a:r>
              <a:rPr dirty="0" err="1"/>
              <a:t>BullMQ</a:t>
            </a:r>
            <a:r>
              <a:rPr dirty="0"/>
              <a:t> + Redis isolates heavy processing so 500-page files never freeze the core web platform.</a:t>
            </a:r>
          </a:p>
        </p:txBody>
      </p:sp>
      <p:sp>
        <p:nvSpPr>
          <p:cNvPr id="5" name="Rectangle 4"/>
          <p:cNvSpPr/>
          <p:nvPr/>
        </p:nvSpPr>
        <p:spPr>
          <a:xfrm>
            <a:off x="3291840" y="1828800"/>
            <a:ext cx="2468880" cy="4114800"/>
          </a:xfrm>
          <a:prstGeom prst="rect">
            <a:avLst/>
          </a:prstGeom>
          <a:solidFill>
            <a:srgbClr val="1E2630"/>
          </a:solidFill>
          <a:ln w="12700">
            <a:solidFill>
              <a:srgbClr val="8A99A8"/>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spcAft>
                <a:spcPts val="600"/>
              </a:spcAft>
              <a:defRPr sz="3600" b="1">
                <a:solidFill>
                  <a:srgbClr val="10B981"/>
                </a:solidFill>
              </a:defRPr>
            </a:pPr>
            <a:r>
              <a:t>02</a:t>
            </a:r>
          </a:p>
          <a:p>
            <a:pPr>
              <a:spcAft>
                <a:spcPts val="1200"/>
              </a:spcAft>
              <a:defRPr sz="1400" b="1">
                <a:solidFill>
                  <a:srgbClr val="F0F2F5"/>
                </a:solidFill>
              </a:defRPr>
            </a:pPr>
            <a:r>
              <a:t>Dual Extraction Engine</a:t>
            </a:r>
          </a:p>
          <a:p>
            <a:pPr>
              <a:defRPr sz="1100">
                <a:solidFill>
                  <a:srgbClr val="8A99A8"/>
                </a:solidFill>
              </a:defRPr>
            </a:pPr>
            <a:r>
              <a:t>Lightweight pdf-parse runs instantly for text layers. For flat scanned pages, pdf-poppler chunks pages into images for tesseract.js OCR processing.</a:t>
            </a:r>
          </a:p>
        </p:txBody>
      </p:sp>
      <p:sp>
        <p:nvSpPr>
          <p:cNvPr id="6" name="Rectangle 5"/>
          <p:cNvSpPr/>
          <p:nvPr/>
        </p:nvSpPr>
        <p:spPr>
          <a:xfrm>
            <a:off x="6035040" y="1828800"/>
            <a:ext cx="2468880" cy="4114800"/>
          </a:xfrm>
          <a:prstGeom prst="rect">
            <a:avLst/>
          </a:prstGeom>
          <a:solidFill>
            <a:srgbClr val="1E2630"/>
          </a:solidFill>
          <a:ln w="12700">
            <a:solidFill>
              <a:srgbClr val="8A99A8"/>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spcAft>
                <a:spcPts val="600"/>
              </a:spcAft>
              <a:defRPr sz="3600" b="1">
                <a:solidFill>
                  <a:srgbClr val="10B981"/>
                </a:solidFill>
              </a:defRPr>
            </a:pPr>
            <a:r>
              <a:t>03</a:t>
            </a:r>
          </a:p>
          <a:p>
            <a:pPr>
              <a:spcAft>
                <a:spcPts val="1200"/>
              </a:spcAft>
              <a:defRPr sz="1400" b="1">
                <a:solidFill>
                  <a:srgbClr val="F0F2F5"/>
                </a:solidFill>
              </a:defRPr>
            </a:pPr>
            <a:r>
              <a:t>Grid Reconstruction</a:t>
            </a:r>
          </a:p>
          <a:p>
            <a:pPr>
              <a:defRPr sz="1100">
                <a:solidFill>
                  <a:srgbClr val="8A99A8"/>
                </a:solidFill>
              </a:defRPr>
            </a:pPr>
            <a:r>
              <a:t>pdf2json deep-parses structural layout matrices to accurately capture raw cell coordinates, preserving row/column intersections safely.</a:t>
            </a:r>
          </a:p>
        </p:txBody>
      </p:sp>
      <p:sp>
        <p:nvSpPr>
          <p:cNvPr id="7" name="Rectangle 6"/>
          <p:cNvSpPr/>
          <p:nvPr/>
        </p:nvSpPr>
        <p:spPr>
          <a:xfrm>
            <a:off x="8778240" y="1828800"/>
            <a:ext cx="2468880" cy="4114800"/>
          </a:xfrm>
          <a:prstGeom prst="rect">
            <a:avLst/>
          </a:prstGeom>
          <a:solidFill>
            <a:srgbClr val="1E2630"/>
          </a:solidFill>
          <a:ln w="12700">
            <a:solidFill>
              <a:srgbClr val="8A99A8"/>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spcAft>
                <a:spcPts val="600"/>
              </a:spcAft>
              <a:defRPr sz="3600" b="1">
                <a:solidFill>
                  <a:srgbClr val="10B981"/>
                </a:solidFill>
              </a:defRPr>
            </a:pPr>
            <a:r>
              <a:t>04</a:t>
            </a:r>
          </a:p>
          <a:p>
            <a:pPr>
              <a:spcAft>
                <a:spcPts val="1200"/>
              </a:spcAft>
              <a:defRPr sz="1400" b="1">
                <a:solidFill>
                  <a:srgbClr val="F0F2F5"/>
                </a:solidFill>
              </a:defRPr>
            </a:pPr>
            <a:r>
              <a:t>Normalized Output</a:t>
            </a:r>
          </a:p>
          <a:p>
            <a:pPr>
              <a:defRPr sz="1100">
                <a:solidFill>
                  <a:srgbClr val="8A99A8"/>
                </a:solidFill>
              </a:defRPr>
            </a:pPr>
            <a:r>
              <a:t>exceljs bypasses risky, unstable CSV conversion entirely to generate pristine .xlsx sheets mapping variable fields directly to fixed cells.</a:t>
            </a:r>
          </a:p>
        </p:txBody>
      </p:sp>
      <p:pic>
        <p:nvPicPr>
          <p:cNvPr id="8" name="Picture 7">
            <a:extLst>
              <a:ext uri="{FF2B5EF4-FFF2-40B4-BE49-F238E27FC236}">
                <a16:creationId xmlns:a16="http://schemas.microsoft.com/office/drawing/2014/main" id="{431DBE3F-50D6-3F60-49F1-A12E5F140B3A}"/>
              </a:ext>
            </a:extLst>
          </p:cNvPr>
          <p:cNvPicPr>
            <a:picLocks noChangeAspect="1"/>
          </p:cNvPicPr>
          <p:nvPr/>
        </p:nvPicPr>
        <p:blipFill>
          <a:blip r:embed="rId2"/>
          <a:stretch>
            <a:fillRect/>
          </a:stretch>
        </p:blipFill>
        <p:spPr>
          <a:xfrm>
            <a:off x="10364769" y="206861"/>
            <a:ext cx="1603114" cy="76835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116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972800" cy="731520"/>
          </a:xfrm>
          <a:prstGeom prst="rect">
            <a:avLst/>
          </a:prstGeom>
          <a:noFill/>
        </p:spPr>
        <p:txBody>
          <a:bodyPr wrap="square">
            <a:spAutoFit/>
          </a:bodyPr>
          <a:lstStyle/>
          <a:p>
            <a:pPr>
              <a:defRPr sz="3200" b="1">
                <a:solidFill>
                  <a:srgbClr val="F0F2F5"/>
                </a:solidFill>
                <a:latin typeface="Arial"/>
              </a:defRPr>
            </a:pPr>
            <a:r>
              <a:t>Database Schema &amp; Human-in-the-Loop Design</a:t>
            </a:r>
          </a:p>
        </p:txBody>
      </p:sp>
      <p:sp>
        <p:nvSpPr>
          <p:cNvPr id="4" name="Rectangle 3"/>
          <p:cNvSpPr/>
          <p:nvPr/>
        </p:nvSpPr>
        <p:spPr>
          <a:xfrm>
            <a:off x="548640" y="1645920"/>
            <a:ext cx="11091672" cy="4389120"/>
          </a:xfrm>
          <a:prstGeom prst="rect">
            <a:avLst/>
          </a:prstGeom>
          <a:solidFill>
            <a:srgbClr val="1E2630"/>
          </a:solidFill>
          <a:ln>
            <a:noFill/>
          </a:ln>
        </p:spPr>
        <p:style>
          <a:lnRef idx="1">
            <a:schemeClr val="accent1"/>
          </a:lnRef>
          <a:fillRef idx="3">
            <a:schemeClr val="accent1"/>
          </a:fillRef>
          <a:effectRef idx="2">
            <a:schemeClr val="accent1"/>
          </a:effectRef>
          <a:fontRef idx="minor">
            <a:schemeClr val="lt1"/>
          </a:fontRef>
        </p:style>
        <p:txBody>
          <a:bodyPr wrap="square" lIns="365760" tIns="365760" rtlCol="0" anchor="ctr"/>
          <a:lstStyle/>
          <a:p>
            <a:pPr algn="ctr">
              <a:spcAft>
                <a:spcPts val="1400"/>
              </a:spcAft>
              <a:defRPr sz="1600" b="1">
                <a:solidFill>
                  <a:srgbClr val="10B981"/>
                </a:solidFill>
              </a:defRPr>
            </a:pPr>
            <a:r>
              <a:rPr dirty="0"/>
              <a:t>PostgreSQL Enterprise Blueprint</a:t>
            </a:r>
          </a:p>
          <a:p>
            <a:pPr>
              <a:spcAft>
                <a:spcPts val="1200"/>
              </a:spcAft>
              <a:defRPr sz="1200" b="1">
                <a:solidFill>
                  <a:srgbClr val="F0F2F5"/>
                </a:solidFill>
              </a:defRPr>
            </a:pPr>
            <a:r>
              <a:rPr dirty="0"/>
              <a:t>• </a:t>
            </a:r>
            <a:r>
              <a:rPr sz="1600" dirty="0"/>
              <a:t>Document Tracking (documents table): </a:t>
            </a:r>
            <a:r>
              <a:rPr sz="1600" b="0" dirty="0">
                <a:solidFill>
                  <a:srgbClr val="8A99A8"/>
                </a:solidFill>
              </a:rPr>
              <a:t>Safeguards structural data tracking across three immutable lifecycle states: 'PROCESSING', 'NEEDS_REVIEW', or 'VALIDATED'.</a:t>
            </a:r>
          </a:p>
          <a:p>
            <a:pPr>
              <a:spcAft>
                <a:spcPts val="1200"/>
              </a:spcAft>
              <a:defRPr sz="1200" b="1">
                <a:solidFill>
                  <a:srgbClr val="F0F2F5"/>
                </a:solidFill>
              </a:defRPr>
            </a:pPr>
            <a:r>
              <a:rPr sz="1600" dirty="0"/>
              <a:t>• Flexible Core Storage (</a:t>
            </a:r>
            <a:r>
              <a:rPr sz="1600" dirty="0" err="1"/>
              <a:t>extracted_records</a:t>
            </a:r>
            <a:r>
              <a:rPr sz="1600" dirty="0"/>
              <a:t> table): </a:t>
            </a:r>
            <a:r>
              <a:rPr sz="1600" b="0" dirty="0">
                <a:solidFill>
                  <a:srgbClr val="8A99A8"/>
                </a:solidFill>
              </a:rPr>
              <a:t>Leverages highly optimized JSONB columns to capture and hold both unmapped raw layout shapes and clean normalized data side-by-side.</a:t>
            </a:r>
          </a:p>
          <a:p>
            <a:pPr>
              <a:spcAft>
                <a:spcPts val="1200"/>
              </a:spcAft>
              <a:defRPr sz="1200" b="1">
                <a:solidFill>
                  <a:srgbClr val="F0F2F5"/>
                </a:solidFill>
              </a:defRPr>
            </a:pPr>
            <a:r>
              <a:rPr sz="1600" dirty="0"/>
              <a:t>• Fuzzy Translation Engine (fuse.js integration): </a:t>
            </a:r>
            <a:r>
              <a:rPr sz="1600" b="0" dirty="0">
                <a:solidFill>
                  <a:srgbClr val="8A99A8"/>
                </a:solidFill>
              </a:rPr>
              <a:t>Cross-references extracted column data against your targeted master schema. If a supplier's keyword match score drops too low, it automatically stores it within </a:t>
            </a:r>
            <a:r>
              <a:rPr sz="1600" b="0" dirty="0" err="1">
                <a:solidFill>
                  <a:srgbClr val="8A99A8"/>
                </a:solidFill>
              </a:rPr>
              <a:t>unmapped_headers</a:t>
            </a:r>
            <a:r>
              <a:rPr sz="1600" b="0" dirty="0">
                <a:solidFill>
                  <a:srgbClr val="8A99A8"/>
                </a:solidFill>
              </a:rPr>
              <a:t> and fires an amber alert flag.</a:t>
            </a:r>
          </a:p>
          <a:p>
            <a:pPr>
              <a:spcAft>
                <a:spcPts val="1200"/>
              </a:spcAft>
              <a:defRPr sz="1200" b="1">
                <a:solidFill>
                  <a:srgbClr val="F0F2F5"/>
                </a:solidFill>
              </a:defRPr>
            </a:pPr>
            <a:r>
              <a:rPr sz="1600" dirty="0"/>
              <a:t>• Self-Learning Feedback Loop (</a:t>
            </a:r>
            <a:r>
              <a:rPr sz="1600" dirty="0" err="1"/>
              <a:t>heading_aliases</a:t>
            </a:r>
            <a:r>
              <a:rPr sz="1600" dirty="0"/>
              <a:t> table): </a:t>
            </a:r>
            <a:r>
              <a:rPr sz="1600" b="0" dirty="0">
                <a:solidFill>
                  <a:srgbClr val="8A99A8"/>
                </a:solidFill>
              </a:rPr>
              <a:t>When an operator manually corrects an unknown column label using the dashboard dropdown, the connection is instantly committed to the DB, meaning the system never asks the human to map that specific typo again.</a:t>
            </a:r>
          </a:p>
        </p:txBody>
      </p:sp>
      <p:pic>
        <p:nvPicPr>
          <p:cNvPr id="5" name="Picture 4">
            <a:extLst>
              <a:ext uri="{FF2B5EF4-FFF2-40B4-BE49-F238E27FC236}">
                <a16:creationId xmlns:a16="http://schemas.microsoft.com/office/drawing/2014/main" id="{3258DC7C-52AA-073C-7807-FD944E556573}"/>
              </a:ext>
            </a:extLst>
          </p:cNvPr>
          <p:cNvPicPr>
            <a:picLocks noChangeAspect="1"/>
          </p:cNvPicPr>
          <p:nvPr/>
        </p:nvPicPr>
        <p:blipFill>
          <a:blip r:embed="rId2"/>
          <a:stretch>
            <a:fillRect/>
          </a:stretch>
        </p:blipFill>
        <p:spPr>
          <a:xfrm>
            <a:off x="10364769" y="215826"/>
            <a:ext cx="1603114" cy="76835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116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972800" cy="731520"/>
          </a:xfrm>
          <a:prstGeom prst="rect">
            <a:avLst/>
          </a:prstGeom>
          <a:noFill/>
        </p:spPr>
        <p:txBody>
          <a:bodyPr wrap="square">
            <a:spAutoFit/>
          </a:bodyPr>
          <a:lstStyle/>
          <a:p>
            <a:pPr>
              <a:defRPr sz="3200" b="1">
                <a:solidFill>
                  <a:srgbClr val="F0F2F5"/>
                </a:solidFill>
                <a:latin typeface="Arial"/>
              </a:defRPr>
            </a:pPr>
            <a:r>
              <a:t>The Interactive Operations Dashboard Layout</a:t>
            </a:r>
          </a:p>
        </p:txBody>
      </p:sp>
      <p:sp>
        <p:nvSpPr>
          <p:cNvPr id="4" name="Rectangle 3"/>
          <p:cNvSpPr/>
          <p:nvPr/>
        </p:nvSpPr>
        <p:spPr>
          <a:xfrm>
            <a:off x="548640" y="1371600"/>
            <a:ext cx="11091672" cy="4937760"/>
          </a:xfrm>
          <a:prstGeom prst="rect">
            <a:avLst/>
          </a:prstGeom>
          <a:solidFill>
            <a:srgbClr val="11161B"/>
          </a:solidFill>
          <a:ln w="19050">
            <a:solidFill>
              <a:srgbClr val="8A99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371600"/>
            <a:ext cx="2011680" cy="4937760"/>
          </a:xfrm>
          <a:prstGeom prst="rect">
            <a:avLst/>
          </a:prstGeom>
          <a:solidFill>
            <a:srgbClr val="1E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8A99A8"/>
                </a:solidFill>
              </a:defRPr>
            </a:pPr>
            <a:r>
              <a:t>  MetaVal OS</a:t>
            </a:r>
            <a:br/>
            <a:br/>
            <a:r>
              <a:t>  📊 Overview</a:t>
            </a:r>
            <a:br/>
            <a:r>
              <a:t>  📂 File History</a:t>
            </a:r>
            <a:br/>
            <a:r>
              <a:t>  🔀 Alias Rules</a:t>
            </a:r>
            <a:br/>
            <a:r>
              <a:t>  💬 Support Form</a:t>
            </a:r>
          </a:p>
        </p:txBody>
      </p:sp>
      <p:sp>
        <p:nvSpPr>
          <p:cNvPr id="6" name="Rectangle 5"/>
          <p:cNvSpPr/>
          <p:nvPr/>
        </p:nvSpPr>
        <p:spPr>
          <a:xfrm>
            <a:off x="2743200" y="1554480"/>
            <a:ext cx="2011680" cy="822960"/>
          </a:xfrm>
          <a:prstGeom prst="rect">
            <a:avLst/>
          </a:prstGeom>
          <a:solidFill>
            <a:srgbClr val="1E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8A99A8"/>
                </a:solidFill>
              </a:defRPr>
            </a:pPr>
            <a:r>
              <a:t>TOTAL UPLOADS</a:t>
            </a:r>
          </a:p>
          <a:p>
            <a:pPr>
              <a:defRPr sz="1400" b="1">
                <a:solidFill>
                  <a:srgbClr val="F0F2F5"/>
                </a:solidFill>
              </a:defRPr>
            </a:pPr>
            <a:r>
              <a:t>14,250</a:t>
            </a:r>
          </a:p>
        </p:txBody>
      </p:sp>
      <p:sp>
        <p:nvSpPr>
          <p:cNvPr id="7" name="Rectangle 6"/>
          <p:cNvSpPr/>
          <p:nvPr/>
        </p:nvSpPr>
        <p:spPr>
          <a:xfrm>
            <a:off x="4892040" y="1554480"/>
            <a:ext cx="2011680" cy="822960"/>
          </a:xfrm>
          <a:prstGeom prst="rect">
            <a:avLst/>
          </a:prstGeom>
          <a:solidFill>
            <a:srgbClr val="1E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8A99A8"/>
                </a:solidFill>
              </a:defRPr>
            </a:pPr>
            <a:r>
              <a:t>EMAIL REVERTS</a:t>
            </a:r>
          </a:p>
          <a:p>
            <a:pPr>
              <a:defRPr sz="1400" b="1">
                <a:solidFill>
                  <a:srgbClr val="F59E0B"/>
                </a:solidFill>
              </a:defRPr>
            </a:pPr>
            <a:r>
              <a:t>3 Pending</a:t>
            </a:r>
          </a:p>
        </p:txBody>
      </p:sp>
      <p:sp>
        <p:nvSpPr>
          <p:cNvPr id="8" name="Rectangle 7"/>
          <p:cNvSpPr/>
          <p:nvPr/>
        </p:nvSpPr>
        <p:spPr>
          <a:xfrm>
            <a:off x="7040880" y="1554480"/>
            <a:ext cx="2011680" cy="822960"/>
          </a:xfrm>
          <a:prstGeom prst="rect">
            <a:avLst/>
          </a:prstGeom>
          <a:solidFill>
            <a:srgbClr val="1E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8A99A8"/>
                </a:solidFill>
              </a:defRPr>
            </a:pPr>
            <a:r>
              <a:t>DAILY UPDATES</a:t>
            </a:r>
          </a:p>
          <a:p>
            <a:pPr>
              <a:defRPr sz="1400" b="1">
                <a:solidFill>
                  <a:srgbClr val="10B981"/>
                </a:solidFill>
              </a:defRPr>
            </a:pPr>
            <a:r>
              <a:t>+342 Today</a:t>
            </a:r>
          </a:p>
        </p:txBody>
      </p:sp>
      <p:sp>
        <p:nvSpPr>
          <p:cNvPr id="9" name="Rectangle 8"/>
          <p:cNvSpPr/>
          <p:nvPr/>
        </p:nvSpPr>
        <p:spPr>
          <a:xfrm>
            <a:off x="9189720" y="1554480"/>
            <a:ext cx="2011680" cy="822960"/>
          </a:xfrm>
          <a:prstGeom prst="rect">
            <a:avLst/>
          </a:prstGeom>
          <a:solidFill>
            <a:srgbClr val="1E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8A99A8"/>
                </a:solidFill>
              </a:defRPr>
            </a:pPr>
            <a:r>
              <a:t>DATA INGESTION</a:t>
            </a:r>
          </a:p>
          <a:p>
            <a:pPr>
              <a:defRPr sz="1400" b="1">
                <a:solidFill>
                  <a:srgbClr val="F0F2F5"/>
                </a:solidFill>
              </a:defRPr>
            </a:pPr>
            <a:r>
              <a:t>70% Text / 30% OCR</a:t>
            </a:r>
          </a:p>
        </p:txBody>
      </p:sp>
      <p:sp>
        <p:nvSpPr>
          <p:cNvPr id="10" name="Rectangle 9"/>
          <p:cNvSpPr/>
          <p:nvPr/>
        </p:nvSpPr>
        <p:spPr>
          <a:xfrm>
            <a:off x="2743200" y="2560320"/>
            <a:ext cx="4114800" cy="731520"/>
          </a:xfrm>
          <a:prstGeom prst="rect">
            <a:avLst/>
          </a:prstGeom>
          <a:solidFill>
            <a:srgbClr val="1E2630"/>
          </a:solidFill>
          <a:ln>
            <a:solidFill>
              <a:srgbClr val="8A99A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F0F2F5"/>
                </a:solidFill>
              </a:defRPr>
            </a:pPr>
            <a:r>
              <a:t>📤 Manual Dropzone: Drag &amp; Drop PDF</a:t>
            </a:r>
          </a:p>
        </p:txBody>
      </p:sp>
      <p:sp>
        <p:nvSpPr>
          <p:cNvPr id="11" name="Rectangle 10"/>
          <p:cNvSpPr/>
          <p:nvPr/>
        </p:nvSpPr>
        <p:spPr>
          <a:xfrm>
            <a:off x="7040880" y="2560320"/>
            <a:ext cx="4297680" cy="731520"/>
          </a:xfrm>
          <a:prstGeom prst="rect">
            <a:avLst/>
          </a:prstGeom>
          <a:solidFill>
            <a:srgbClr val="1E2630"/>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10B981"/>
                </a:solidFill>
              </a:defRPr>
            </a:pPr>
            <a:r>
              <a:t>📥 Global Ledger Export: Get Excel (.xlsx)</a:t>
            </a:r>
          </a:p>
        </p:txBody>
      </p:sp>
      <p:sp>
        <p:nvSpPr>
          <p:cNvPr id="12" name="Rectangle 11"/>
          <p:cNvSpPr/>
          <p:nvPr/>
        </p:nvSpPr>
        <p:spPr>
          <a:xfrm>
            <a:off x="2743200" y="3474720"/>
            <a:ext cx="8595360" cy="2560320"/>
          </a:xfrm>
          <a:prstGeom prst="rect">
            <a:avLst/>
          </a:prstGeom>
          <a:solidFill>
            <a:srgbClr val="1E263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0"/>
              </a:spcAft>
              <a:defRPr sz="1100" b="1">
                <a:solidFill>
                  <a:srgbClr val="F0F2F5"/>
                </a:solidFill>
              </a:defRPr>
            </a:pPr>
            <a:r>
              <a:t>   Live Ingestion Ledger &amp; Operational Status Monitor</a:t>
            </a:r>
          </a:p>
          <a:p>
            <a:pPr>
              <a:spcAft>
                <a:spcPts val="600"/>
              </a:spcAft>
              <a:defRPr sz="1000">
                <a:solidFill>
                  <a:srgbClr val="8A99A8"/>
                </a:solidFill>
                <a:latin typeface="Consolas"/>
              </a:defRPr>
            </a:pPr>
            <a:r>
              <a:t>   File Name                    Source           Type         Pipeline Status                  Action</a:t>
            </a:r>
          </a:p>
          <a:p>
            <a:pPr>
              <a:spcAft>
                <a:spcPts val="400"/>
              </a:spcAft>
              <a:defRPr sz="1000">
                <a:solidFill>
                  <a:srgbClr val="F59E0B"/>
                </a:solidFill>
                <a:latin typeface="Consolas"/>
              </a:defRPr>
            </a:pPr>
            <a:r>
              <a:t>   INV_9921_ABC.pdf             Email Link       OCR          [NEEDS_REVIEW ⚠️]              [Resolve Layout]</a:t>
            </a:r>
          </a:p>
          <a:p>
            <a:pPr>
              <a:defRPr sz="1000">
                <a:solidFill>
                  <a:srgbClr val="10B981"/>
                </a:solidFill>
                <a:latin typeface="Consolas"/>
              </a:defRPr>
            </a:pPr>
            <a:r>
              <a:t>   SUP_SH_882.pdf               Manual           Text         [VALIDATED ✅]                 [Download Excel]</a:t>
            </a:r>
          </a:p>
        </p:txBody>
      </p:sp>
      <p:pic>
        <p:nvPicPr>
          <p:cNvPr id="13" name="Picture 12">
            <a:extLst>
              <a:ext uri="{FF2B5EF4-FFF2-40B4-BE49-F238E27FC236}">
                <a16:creationId xmlns:a16="http://schemas.microsoft.com/office/drawing/2014/main" id="{14916AFF-D232-BE7E-3E4B-A477288DA996}"/>
              </a:ext>
            </a:extLst>
          </p:cNvPr>
          <p:cNvPicPr>
            <a:picLocks noChangeAspect="1"/>
          </p:cNvPicPr>
          <p:nvPr/>
        </p:nvPicPr>
        <p:blipFill>
          <a:blip r:embed="rId2"/>
          <a:stretch>
            <a:fillRect/>
          </a:stretch>
        </p:blipFill>
        <p:spPr>
          <a:xfrm>
            <a:off x="10364769" y="206861"/>
            <a:ext cx="1603114" cy="76835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116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972800" cy="731520"/>
          </a:xfrm>
          <a:prstGeom prst="rect">
            <a:avLst/>
          </a:prstGeom>
          <a:noFill/>
        </p:spPr>
        <p:txBody>
          <a:bodyPr wrap="square">
            <a:spAutoFit/>
          </a:bodyPr>
          <a:lstStyle/>
          <a:p>
            <a:pPr>
              <a:defRPr sz="3200" b="1">
                <a:solidFill>
                  <a:srgbClr val="F0F2F5"/>
                </a:solidFill>
                <a:latin typeface="Arial"/>
              </a:defRPr>
            </a:pPr>
            <a:r>
              <a:t>Dashboard Functional Breakdown</a:t>
            </a:r>
          </a:p>
        </p:txBody>
      </p:sp>
      <p:sp>
        <p:nvSpPr>
          <p:cNvPr id="4" name="TextBox 3"/>
          <p:cNvSpPr txBox="1"/>
          <p:nvPr/>
        </p:nvSpPr>
        <p:spPr>
          <a:xfrm>
            <a:off x="548640" y="1645920"/>
            <a:ext cx="5303520" cy="3308598"/>
          </a:xfrm>
          <a:prstGeom prst="rect">
            <a:avLst/>
          </a:prstGeom>
          <a:noFill/>
        </p:spPr>
        <p:txBody>
          <a:bodyPr wrap="square">
            <a:spAutoFit/>
          </a:bodyPr>
          <a:lstStyle/>
          <a:p>
            <a:pPr>
              <a:spcAft>
                <a:spcPts val="1200"/>
              </a:spcAft>
              <a:defRPr sz="1400" b="1">
                <a:solidFill>
                  <a:srgbClr val="10B981"/>
                </a:solidFill>
              </a:defRPr>
            </a:pPr>
            <a:r>
              <a:rPr dirty="0"/>
              <a:t>KPI INSIGHTS CLUSTER</a:t>
            </a:r>
          </a:p>
          <a:p>
            <a:pPr>
              <a:spcAft>
                <a:spcPts val="1000"/>
              </a:spcAft>
              <a:defRPr sz="1200" b="1">
                <a:solidFill>
                  <a:srgbClr val="F0F2F5"/>
                </a:solidFill>
              </a:defRPr>
            </a:pPr>
            <a:r>
              <a:rPr sz="1600" dirty="0"/>
              <a:t>• Total PDFs Uploaded: </a:t>
            </a:r>
            <a:r>
              <a:rPr sz="1600" b="0" dirty="0">
                <a:solidFill>
                  <a:srgbClr val="8A99A8"/>
                </a:solidFill>
              </a:rPr>
              <a:t>Monitors cumulative historical pipeline volume data.</a:t>
            </a:r>
          </a:p>
          <a:p>
            <a:pPr>
              <a:spcAft>
                <a:spcPts val="1000"/>
              </a:spcAft>
              <a:defRPr sz="1200" b="1">
                <a:solidFill>
                  <a:srgbClr val="F0F2F5"/>
                </a:solidFill>
              </a:defRPr>
            </a:pPr>
            <a:r>
              <a:rPr sz="1600" dirty="0"/>
              <a:t>• Total Mails Reverted Back: </a:t>
            </a:r>
            <a:r>
              <a:rPr sz="1600" b="0" dirty="0">
                <a:solidFill>
                  <a:srgbClr val="8A99A8"/>
                </a:solidFill>
              </a:rPr>
              <a:t>Tracks automated alert notifications and catches stuck/un-responded customer or supplier emails.</a:t>
            </a:r>
          </a:p>
          <a:p>
            <a:pPr>
              <a:spcAft>
                <a:spcPts val="1000"/>
              </a:spcAft>
              <a:defRPr sz="1200" b="1">
                <a:solidFill>
                  <a:srgbClr val="F0F2F5"/>
                </a:solidFill>
              </a:defRPr>
            </a:pPr>
            <a:r>
              <a:rPr sz="1600" dirty="0"/>
              <a:t>• Daily Updates Tracker: </a:t>
            </a:r>
            <a:r>
              <a:rPr sz="1600" b="0" dirty="0">
                <a:solidFill>
                  <a:srgbClr val="8A99A8"/>
                </a:solidFill>
              </a:rPr>
              <a:t>Live shift counter tracking updates successfully written into the Postgres layer today.</a:t>
            </a:r>
          </a:p>
          <a:p>
            <a:pPr>
              <a:spcAft>
                <a:spcPts val="1000"/>
              </a:spcAft>
              <a:defRPr sz="1200" b="1">
                <a:solidFill>
                  <a:srgbClr val="F0F2F5"/>
                </a:solidFill>
              </a:defRPr>
            </a:pPr>
            <a:r>
              <a:rPr sz="1600" dirty="0"/>
              <a:t>• Separated Ingestion Ratios: </a:t>
            </a:r>
            <a:r>
              <a:rPr sz="1600" b="0" dirty="0">
                <a:solidFill>
                  <a:srgbClr val="8A99A8"/>
                </a:solidFill>
              </a:rPr>
              <a:t>Charts standard text inputs vs heavy image OCR files to evaluate data stream clarity patterns.</a:t>
            </a:r>
          </a:p>
        </p:txBody>
      </p:sp>
      <p:sp>
        <p:nvSpPr>
          <p:cNvPr id="5" name="TextBox 4"/>
          <p:cNvSpPr txBox="1"/>
          <p:nvPr/>
        </p:nvSpPr>
        <p:spPr>
          <a:xfrm>
            <a:off x="6336792" y="1645920"/>
            <a:ext cx="5303520" cy="2934137"/>
          </a:xfrm>
          <a:prstGeom prst="rect">
            <a:avLst/>
          </a:prstGeom>
          <a:noFill/>
        </p:spPr>
        <p:txBody>
          <a:bodyPr wrap="square">
            <a:spAutoFit/>
          </a:bodyPr>
          <a:lstStyle/>
          <a:p>
            <a:pPr>
              <a:spcAft>
                <a:spcPts val="1200"/>
              </a:spcAft>
              <a:defRPr sz="1400" b="1">
                <a:solidFill>
                  <a:srgbClr val="10B981"/>
                </a:solidFill>
              </a:defRPr>
            </a:pPr>
            <a:r>
              <a:rPr dirty="0"/>
              <a:t>OPERATOR MANAGEMENT TOOLKIT</a:t>
            </a:r>
          </a:p>
          <a:p>
            <a:pPr>
              <a:spcAft>
                <a:spcPts val="1000"/>
              </a:spcAft>
              <a:defRPr sz="1200" b="1">
                <a:solidFill>
                  <a:srgbClr val="F0F2F5"/>
                </a:solidFill>
              </a:defRPr>
            </a:pPr>
            <a:r>
              <a:rPr sz="1600" dirty="0"/>
              <a:t>• Manual Ingestion Engine: </a:t>
            </a:r>
            <a:r>
              <a:rPr sz="1600" b="0" dirty="0">
                <a:solidFill>
                  <a:srgbClr val="8A99A8"/>
                </a:solidFill>
              </a:rPr>
              <a:t>Integrated drag-and-drop boundary box feeding standard </a:t>
            </a:r>
            <a:r>
              <a:rPr sz="1600" b="0" dirty="0" err="1">
                <a:solidFill>
                  <a:srgbClr val="8A99A8"/>
                </a:solidFill>
              </a:rPr>
              <a:t>multer</a:t>
            </a:r>
            <a:r>
              <a:rPr sz="1600" b="0" dirty="0">
                <a:solidFill>
                  <a:srgbClr val="8A99A8"/>
                </a:solidFill>
              </a:rPr>
              <a:t> </a:t>
            </a:r>
            <a:r>
              <a:rPr sz="1600" b="0" dirty="0" err="1">
                <a:solidFill>
                  <a:srgbClr val="8A99A8"/>
                </a:solidFill>
              </a:rPr>
              <a:t>api</a:t>
            </a:r>
            <a:r>
              <a:rPr sz="1600" b="0" dirty="0">
                <a:solidFill>
                  <a:srgbClr val="8A99A8"/>
                </a:solidFill>
              </a:rPr>
              <a:t> endpoints for immediate ad-hoc operations.</a:t>
            </a:r>
          </a:p>
          <a:p>
            <a:pPr>
              <a:spcAft>
                <a:spcPts val="1000"/>
              </a:spcAft>
              <a:defRPr sz="1200" b="1">
                <a:solidFill>
                  <a:srgbClr val="F0F2F5"/>
                </a:solidFill>
              </a:defRPr>
            </a:pPr>
            <a:r>
              <a:rPr sz="1600" dirty="0"/>
              <a:t>• One-Click Native Export: </a:t>
            </a:r>
            <a:r>
              <a:rPr sz="1600" b="0" dirty="0">
                <a:solidFill>
                  <a:srgbClr val="8A99A8"/>
                </a:solidFill>
              </a:rPr>
              <a:t>Calls server-side </a:t>
            </a:r>
            <a:r>
              <a:rPr sz="1600" b="0" dirty="0" err="1">
                <a:solidFill>
                  <a:srgbClr val="8A99A8"/>
                </a:solidFill>
              </a:rPr>
              <a:t>exceljs</a:t>
            </a:r>
            <a:r>
              <a:rPr sz="1600" b="0" dirty="0">
                <a:solidFill>
                  <a:srgbClr val="8A99A8"/>
                </a:solidFill>
              </a:rPr>
              <a:t> handlers to pull validated records and instantly write pristine structured .xlsx sheets.</a:t>
            </a:r>
          </a:p>
          <a:p>
            <a:pPr>
              <a:spcAft>
                <a:spcPts val="1000"/>
              </a:spcAft>
              <a:defRPr sz="1200" b="1">
                <a:solidFill>
                  <a:srgbClr val="F0F2F5"/>
                </a:solidFill>
              </a:defRPr>
            </a:pPr>
            <a:r>
              <a:rPr sz="1600" dirty="0"/>
              <a:t>• Internal Technical Query Module: </a:t>
            </a:r>
            <a:r>
              <a:rPr sz="1600" b="0" dirty="0">
                <a:solidFill>
                  <a:srgbClr val="8A99A8"/>
                </a:solidFill>
              </a:rPr>
              <a:t>An embedded ticket layout interface empowering floor operators to send technical system reports straight to engineering.</a:t>
            </a:r>
          </a:p>
        </p:txBody>
      </p:sp>
      <p:pic>
        <p:nvPicPr>
          <p:cNvPr id="6" name="Picture 5">
            <a:extLst>
              <a:ext uri="{FF2B5EF4-FFF2-40B4-BE49-F238E27FC236}">
                <a16:creationId xmlns:a16="http://schemas.microsoft.com/office/drawing/2014/main" id="{F4B8F2A3-FEEC-BDF7-D041-36C60915F515}"/>
              </a:ext>
            </a:extLst>
          </p:cNvPr>
          <p:cNvPicPr>
            <a:picLocks noChangeAspect="1"/>
          </p:cNvPicPr>
          <p:nvPr/>
        </p:nvPicPr>
        <p:blipFill>
          <a:blip r:embed="rId2"/>
          <a:stretch>
            <a:fillRect/>
          </a:stretch>
        </p:blipFill>
        <p:spPr>
          <a:xfrm>
            <a:off x="10364769" y="206861"/>
            <a:ext cx="1603114" cy="76835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4825"/>
            <a:ext cx="12188952" cy="6858000"/>
          </a:xfrm>
          <a:prstGeom prst="rect">
            <a:avLst/>
          </a:prstGeom>
          <a:solidFill>
            <a:srgbClr val="1116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972800" cy="731520"/>
          </a:xfrm>
          <a:prstGeom prst="rect">
            <a:avLst/>
          </a:prstGeom>
          <a:noFill/>
        </p:spPr>
        <p:txBody>
          <a:bodyPr wrap="square">
            <a:spAutoFit/>
          </a:bodyPr>
          <a:lstStyle/>
          <a:p>
            <a:pPr>
              <a:defRPr sz="3200" b="1">
                <a:solidFill>
                  <a:srgbClr val="F0F2F5"/>
                </a:solidFill>
                <a:latin typeface="Arial"/>
              </a:defRPr>
            </a:pPr>
            <a:r>
              <a:t>Current Progress: What We Have Done So Far</a:t>
            </a:r>
          </a:p>
        </p:txBody>
      </p:sp>
      <p:sp>
        <p:nvSpPr>
          <p:cNvPr id="4" name="TextBox 3"/>
          <p:cNvSpPr txBox="1"/>
          <p:nvPr/>
        </p:nvSpPr>
        <p:spPr>
          <a:xfrm>
            <a:off x="548640" y="1645920"/>
            <a:ext cx="11091672" cy="2451953"/>
          </a:xfrm>
          <a:prstGeom prst="rect">
            <a:avLst/>
          </a:prstGeom>
          <a:noFill/>
        </p:spPr>
        <p:txBody>
          <a:bodyPr wrap="square">
            <a:spAutoFit/>
          </a:bodyPr>
          <a:lstStyle/>
          <a:p>
            <a:pPr>
              <a:spcAft>
                <a:spcPts val="2000"/>
              </a:spcAft>
              <a:defRPr sz="1400">
                <a:solidFill>
                  <a:srgbClr val="F0F2F5"/>
                </a:solidFill>
              </a:defRPr>
            </a:pPr>
            <a:r>
              <a:rPr dirty="0"/>
              <a:t>The structural and visual foundation of Project </a:t>
            </a:r>
            <a:r>
              <a:rPr dirty="0" err="1"/>
              <a:t>MetaVal</a:t>
            </a:r>
            <a:r>
              <a:rPr dirty="0"/>
              <a:t> is 100% complete and verified:</a:t>
            </a:r>
          </a:p>
          <a:p>
            <a:pPr>
              <a:spcAft>
                <a:spcPts val="1600"/>
              </a:spcAft>
              <a:defRPr sz="1300" b="1">
                <a:solidFill>
                  <a:srgbClr val="10B981"/>
                </a:solidFill>
              </a:defRPr>
            </a:pPr>
            <a:r>
              <a:rPr sz="1600" dirty="0"/>
              <a:t>✅ Frontend Architecture Completed: </a:t>
            </a:r>
            <a:r>
              <a:rPr sz="1600" b="0" dirty="0">
                <a:solidFill>
                  <a:srgbClr val="8A99A8"/>
                </a:solidFill>
              </a:rPr>
              <a:t>The complete React operator dashboard interface is fully built, styled with our industrial dark theme, and ready to display real-time metrics, file grids, and dropdown validation panels.</a:t>
            </a:r>
          </a:p>
          <a:p>
            <a:pPr>
              <a:spcAft>
                <a:spcPts val="1600"/>
              </a:spcAft>
              <a:defRPr sz="1300" b="1">
                <a:solidFill>
                  <a:srgbClr val="10B981"/>
                </a:solidFill>
              </a:defRPr>
            </a:pPr>
            <a:r>
              <a:rPr sz="1600" dirty="0"/>
              <a:t>✅ Backend Infrastructure Operational: </a:t>
            </a:r>
            <a:r>
              <a:rPr sz="1600" b="0" dirty="0">
                <a:solidFill>
                  <a:srgbClr val="8A99A8"/>
                </a:solidFill>
              </a:rPr>
              <a:t>The Node.js Express server framework is active, running on localhost, and successfully paired with our persistent storage layout.</a:t>
            </a:r>
          </a:p>
          <a:p>
            <a:pPr>
              <a:spcAft>
                <a:spcPts val="1600"/>
              </a:spcAft>
              <a:defRPr sz="1300" b="1">
                <a:solidFill>
                  <a:srgbClr val="10B981"/>
                </a:solidFill>
              </a:defRPr>
            </a:pPr>
            <a:r>
              <a:rPr sz="1600" dirty="0"/>
              <a:t>✅ Relational Database Schema Established: </a:t>
            </a:r>
            <a:r>
              <a:rPr sz="1600" b="0" dirty="0">
                <a:solidFill>
                  <a:srgbClr val="8A99A8"/>
                </a:solidFill>
              </a:rPr>
              <a:t>All core PostgreSQL tables—including document states, flexible raw/normalized JSONB data stores, and self-learning alias dictionaries—are fully created</a:t>
            </a:r>
            <a:r>
              <a:rPr b="0" dirty="0">
                <a:solidFill>
                  <a:srgbClr val="8A99A8"/>
                </a:solidFill>
              </a:rPr>
              <a:t>.</a:t>
            </a:r>
          </a:p>
        </p:txBody>
      </p:sp>
      <p:pic>
        <p:nvPicPr>
          <p:cNvPr id="5" name="Picture 4">
            <a:extLst>
              <a:ext uri="{FF2B5EF4-FFF2-40B4-BE49-F238E27FC236}">
                <a16:creationId xmlns:a16="http://schemas.microsoft.com/office/drawing/2014/main" id="{3AE1281A-96E6-663D-F91E-4025B74DCBE4}"/>
              </a:ext>
            </a:extLst>
          </p:cNvPr>
          <p:cNvPicPr>
            <a:picLocks noChangeAspect="1"/>
          </p:cNvPicPr>
          <p:nvPr/>
        </p:nvPicPr>
        <p:blipFill>
          <a:blip r:embed="rId2"/>
          <a:stretch>
            <a:fillRect/>
          </a:stretch>
        </p:blipFill>
        <p:spPr>
          <a:xfrm>
            <a:off x="10364769" y="206861"/>
            <a:ext cx="1603114" cy="76835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116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972800" cy="731520"/>
          </a:xfrm>
          <a:prstGeom prst="rect">
            <a:avLst/>
          </a:prstGeom>
          <a:noFill/>
        </p:spPr>
        <p:txBody>
          <a:bodyPr wrap="square">
            <a:spAutoFit/>
          </a:bodyPr>
          <a:lstStyle/>
          <a:p>
            <a:pPr>
              <a:defRPr sz="3200" b="1">
                <a:solidFill>
                  <a:srgbClr val="F0F2F5"/>
                </a:solidFill>
                <a:latin typeface="Arial"/>
              </a:defRPr>
            </a:pPr>
            <a:r>
              <a:t>Remaining Requirements &amp; Technical Hurdles</a:t>
            </a:r>
          </a:p>
        </p:txBody>
      </p:sp>
      <p:sp>
        <p:nvSpPr>
          <p:cNvPr id="4" name="TextBox 3"/>
          <p:cNvSpPr txBox="1"/>
          <p:nvPr/>
        </p:nvSpPr>
        <p:spPr>
          <a:xfrm>
            <a:off x="548639" y="1645920"/>
            <a:ext cx="11320631" cy="3072636"/>
          </a:xfrm>
          <a:prstGeom prst="rect">
            <a:avLst/>
          </a:prstGeom>
          <a:noFill/>
        </p:spPr>
        <p:txBody>
          <a:bodyPr wrap="square">
            <a:spAutoFit/>
          </a:bodyPr>
          <a:lstStyle/>
          <a:p>
            <a:pPr>
              <a:spcAft>
                <a:spcPts val="2000"/>
              </a:spcAft>
              <a:defRPr sz="1400">
                <a:solidFill>
                  <a:srgbClr val="F0F2F5"/>
                </a:solidFill>
              </a:defRPr>
            </a:pPr>
            <a:r>
              <a:rPr dirty="0"/>
              <a:t>To transition from our current structural foundation to a live, hands-free production pipeline, the remaining technical steps are:</a:t>
            </a:r>
          </a:p>
          <a:p>
            <a:pPr>
              <a:spcAft>
                <a:spcPts val="1400"/>
              </a:spcAft>
              <a:defRPr sz="1300" b="1">
                <a:solidFill>
                  <a:srgbClr val="F59E0B"/>
                </a:solidFill>
              </a:defRPr>
            </a:pPr>
            <a:r>
              <a:rPr sz="1600" dirty="0"/>
              <a:t>⚙️ API Route Setup &amp; Endpoints Integration: </a:t>
            </a:r>
            <a:r>
              <a:rPr sz="1600" b="0" dirty="0">
                <a:solidFill>
                  <a:srgbClr val="8A99A8"/>
                </a:solidFill>
              </a:rPr>
              <a:t>Connecting the frontend components to the backend by spinning up the active upload, download, and modification API endpoints.</a:t>
            </a:r>
          </a:p>
          <a:p>
            <a:pPr>
              <a:spcAft>
                <a:spcPts val="1400"/>
              </a:spcAft>
              <a:defRPr sz="1300" b="1">
                <a:solidFill>
                  <a:srgbClr val="F59E0B"/>
                </a:solidFill>
              </a:defRPr>
            </a:pPr>
            <a:r>
              <a:rPr sz="1600" dirty="0"/>
              <a:t>⚙️ Automated Inbound Ingestion (Email Listener): </a:t>
            </a:r>
            <a:r>
              <a:rPr sz="1600" b="0" dirty="0">
                <a:solidFill>
                  <a:srgbClr val="8A99A8"/>
                </a:solidFill>
              </a:rPr>
              <a:t>Integrating the </a:t>
            </a:r>
            <a:r>
              <a:rPr sz="1600" b="0" dirty="0" err="1">
                <a:solidFill>
                  <a:srgbClr val="8A99A8"/>
                </a:solidFill>
              </a:rPr>
              <a:t>mailparser</a:t>
            </a:r>
            <a:r>
              <a:rPr sz="1600" b="0" dirty="0">
                <a:solidFill>
                  <a:srgbClr val="8A99A8"/>
                </a:solidFill>
              </a:rPr>
              <a:t> / IMAP script to automatically scrape supplier attachments from the inbox without operator interaction.</a:t>
            </a:r>
          </a:p>
          <a:p>
            <a:pPr>
              <a:spcAft>
                <a:spcPts val="1400"/>
              </a:spcAft>
              <a:defRPr sz="1300" b="1">
                <a:solidFill>
                  <a:srgbClr val="F59E0B"/>
                </a:solidFill>
              </a:defRPr>
            </a:pPr>
            <a:r>
              <a:rPr sz="1600" dirty="0"/>
              <a:t>⚙️ Background Processing &amp; State Optimization: </a:t>
            </a:r>
            <a:r>
              <a:rPr sz="1600" b="0" dirty="0">
                <a:solidFill>
                  <a:srgbClr val="8A99A8"/>
                </a:solidFill>
              </a:rPr>
              <a:t>Deploying local Redis and </a:t>
            </a:r>
            <a:r>
              <a:rPr sz="1600" b="0" dirty="0" err="1">
                <a:solidFill>
                  <a:srgbClr val="8A99A8"/>
                </a:solidFill>
              </a:rPr>
              <a:t>BullMQ</a:t>
            </a:r>
            <a:r>
              <a:rPr sz="1600" b="0" dirty="0">
                <a:solidFill>
                  <a:srgbClr val="8A99A8"/>
                </a:solidFill>
              </a:rPr>
              <a:t> wrappers around our parsing functions to prevent 500-page document workloads from timing out the API.</a:t>
            </a:r>
          </a:p>
          <a:p>
            <a:pPr>
              <a:spcAft>
                <a:spcPts val="1400"/>
              </a:spcAft>
              <a:defRPr sz="1300" b="1">
                <a:solidFill>
                  <a:srgbClr val="F59E0B"/>
                </a:solidFill>
              </a:defRPr>
            </a:pPr>
            <a:r>
              <a:rPr sz="1600" dirty="0"/>
              <a:t>⚙️ Fuzzy Logic Threshold Alignment: </a:t>
            </a:r>
            <a:r>
              <a:rPr sz="1600" b="0" dirty="0">
                <a:solidFill>
                  <a:srgbClr val="8A99A8"/>
                </a:solidFill>
              </a:rPr>
              <a:t>Fine-tuning the fuse.js confidence metrics through real-world file variations to hit the optimal balance between automated processing and manual reviews.</a:t>
            </a:r>
          </a:p>
        </p:txBody>
      </p:sp>
      <p:pic>
        <p:nvPicPr>
          <p:cNvPr id="5" name="Picture 4">
            <a:extLst>
              <a:ext uri="{FF2B5EF4-FFF2-40B4-BE49-F238E27FC236}">
                <a16:creationId xmlns:a16="http://schemas.microsoft.com/office/drawing/2014/main" id="{1A8721F5-9B49-2634-B2DC-D7938097726F}"/>
              </a:ext>
            </a:extLst>
          </p:cNvPr>
          <p:cNvPicPr>
            <a:picLocks noChangeAspect="1"/>
          </p:cNvPicPr>
          <p:nvPr/>
        </p:nvPicPr>
        <p:blipFill>
          <a:blip r:embed="rId2"/>
          <a:stretch>
            <a:fillRect/>
          </a:stretch>
        </p:blipFill>
        <p:spPr>
          <a:xfrm>
            <a:off x="10364769" y="206861"/>
            <a:ext cx="1603114" cy="76835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TotalTime>
  <Words>1009</Words>
  <Application>Microsoft Office PowerPoint</Application>
  <PresentationFormat>Custom</PresentationFormat>
  <Paragraphs>69</Paragraphs>
  <Slides>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Mohit Sharma</cp:lastModifiedBy>
  <cp:revision>7</cp:revision>
  <dcterms:created xsi:type="dcterms:W3CDTF">2013-01-27T09:14:16Z</dcterms:created>
  <dcterms:modified xsi:type="dcterms:W3CDTF">2026-05-21T08:59:16Z</dcterms:modified>
  <cp:category/>
</cp:coreProperties>
</file>