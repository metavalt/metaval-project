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800" b="1">
                <a:solidFill>
                  <a:srgbClr val="F8FAFC"/>
                </a:solidFill>
                <a:latin typeface="Arial"/>
              </a:defRPr>
            </a:pPr>
            <a:r>
              <a:t>Project MetaVal: Enterprise Email &amp; PDF Data Ingestion Pipeline</a:t>
            </a:r>
          </a:p>
          <a:p>
            <a:pPr>
              <a:spcAft>
                <a:spcPts val="4000"/>
              </a:spcAft>
              <a:defRPr sz="1600">
                <a:solidFill>
                  <a:srgbClr val="10B981"/>
                </a:solidFill>
                <a:latin typeface="Arial"/>
              </a:defRPr>
            </a:pPr>
            <a:r>
              <a:t>Transitioning Manufacturing Operations from Fragmented Manual Logging to Intelligent Automation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Operational Strategy &amp; Implementation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5F15A0-C466-3107-4050-9D266BB01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1769" y="205740"/>
            <a:ext cx="12877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65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Paradigm Shift: Manual Bottleneck vs. MetaVal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400"/>
              </a:spcAft>
              <a:defRPr sz="1400" b="1">
                <a:solidFill>
                  <a:srgbClr val="F59E0B"/>
                </a:solidFill>
              </a:defRPr>
            </a:pPr>
            <a:r>
              <a:rPr sz="1600" dirty="0"/>
              <a:t>CURRENT MANUAL PROCEDURE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rPr sz="1400" dirty="0"/>
              <a:t>• Fragmented Inputs: Operators manually download varying supplier quotes, invoices, and spec layouts from corporate mailboxes.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rPr sz="1400" dirty="0"/>
              <a:t>• Data Loss Vulnerabilities: Physical typing of multi-page tabular data leads to keying fatigue, typos, and format errors.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rPr sz="1400" dirty="0"/>
              <a:t>• Operational Delays: Sifting through 10-to-500 page logs creates extreme bottlenecks before procurement choices can be processed.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36792" y="1645920"/>
            <a:ext cx="530352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400"/>
              </a:spcAft>
              <a:defRPr sz="1400" b="1">
                <a:solidFill>
                  <a:srgbClr val="10B981"/>
                </a:solidFill>
              </a:defRPr>
            </a:pPr>
            <a:r>
              <a:rPr sz="1600" dirty="0"/>
              <a:t>METAVAL AUTOMATION SYSTEM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rPr sz="1400" dirty="0"/>
              <a:t>• Lean Processing: Scrapes incoming emails and attachments hands-free, routing them instantly into a data parser.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rPr sz="1400" dirty="0"/>
              <a:t>• Unified Ingestion Matrix: Automatically separates, structuralizes, and standardizes digital and scanned paper layers.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rPr sz="1400" dirty="0"/>
              <a:t>• Near-Zero Latency: Translates raw unstructured grids into a pristine data store within moments, keeping procurement agile</a:t>
            </a:r>
            <a:r>
              <a:rPr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A602A4-146B-121C-1C87-5483DF323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1769" y="223670"/>
            <a:ext cx="12877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98163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System Execution Flowchart: Inbound File to Database Target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49135E-20D4-29EF-8349-78E1E1DF6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65" y="829683"/>
            <a:ext cx="11695784" cy="59207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C200E4-F693-5A60-05CC-1C13270E9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1769" y="125057"/>
            <a:ext cx="12877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rPr dirty="0"/>
              <a:t>Strategic Business Advantages: Lean &amp; </a:t>
            </a:r>
            <a:r>
              <a:rPr dirty="0" err="1"/>
              <a:t>Accountab</a:t>
            </a:r>
            <a:r>
              <a:rPr lang="en-GB" dirty="0" err="1"/>
              <a:t>ility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91672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600"/>
              </a:spcAft>
              <a:defRPr sz="1300" b="1">
                <a:solidFill>
                  <a:srgbClr val="10B981"/>
                </a:solidFill>
              </a:defRPr>
            </a:pPr>
            <a:r>
              <a:rPr dirty="0"/>
              <a:t>📈 1. </a:t>
            </a:r>
            <a:r>
              <a:rPr sz="1600" dirty="0"/>
              <a:t>Lean Process Optimization: </a:t>
            </a:r>
            <a:r>
              <a:rPr sz="1600" b="0" dirty="0">
                <a:solidFill>
                  <a:srgbClr val="94A3B8"/>
                </a:solidFill>
              </a:rPr>
              <a:t> The primary goal is leaning out the data processing pipeline, shifting employee bandwidth from data entry to strategic</a:t>
            </a:r>
            <a:r>
              <a:rPr lang="en-GB" sz="1600" b="0" dirty="0">
                <a:solidFill>
                  <a:srgbClr val="94A3B8"/>
                </a:solidFill>
              </a:rPr>
              <a:t> </a:t>
            </a:r>
            <a:r>
              <a:rPr sz="1600" b="0" dirty="0">
                <a:solidFill>
                  <a:srgbClr val="94A3B8"/>
                </a:solidFill>
              </a:rPr>
              <a:t>analysis.</a:t>
            </a:r>
          </a:p>
          <a:p>
            <a:pPr>
              <a:spcAft>
                <a:spcPts val="1600"/>
              </a:spcAft>
              <a:defRPr sz="1300" b="1">
                <a:solidFill>
                  <a:srgbClr val="10B981"/>
                </a:solidFill>
              </a:defRPr>
            </a:pPr>
            <a:r>
              <a:rPr sz="1600" dirty="0"/>
              <a:t>📈 2. Frozen Accountability &amp; Total Traceability: </a:t>
            </a:r>
            <a:r>
              <a:rPr sz="1600" b="0" dirty="0">
                <a:solidFill>
                  <a:srgbClr val="94A3B8"/>
                </a:solidFill>
              </a:rPr>
              <a:t>Essential for industrial compliance. Locks down exact chronological context on when, how, who, and where component parts were </a:t>
            </a:r>
            <a:r>
              <a:rPr sz="1600" b="0" dirty="0" err="1">
                <a:solidFill>
                  <a:srgbClr val="94A3B8"/>
                </a:solidFill>
              </a:rPr>
              <a:t>quotationed</a:t>
            </a:r>
            <a:r>
              <a:rPr sz="1600" b="0" dirty="0">
                <a:solidFill>
                  <a:srgbClr val="94A3B8"/>
                </a:solidFill>
              </a:rPr>
              <a:t>, routed, or sold across the enterprise.</a:t>
            </a:r>
          </a:p>
          <a:p>
            <a:pPr>
              <a:spcAft>
                <a:spcPts val="1600"/>
              </a:spcAft>
              <a:defRPr sz="1300" b="1">
                <a:solidFill>
                  <a:srgbClr val="10B981"/>
                </a:solidFill>
              </a:defRPr>
            </a:pPr>
            <a:r>
              <a:rPr sz="1600" dirty="0"/>
              <a:t>📈 3. Defined Process Boundaries: </a:t>
            </a:r>
            <a:r>
              <a:rPr sz="1600" b="0" dirty="0">
                <a:solidFill>
                  <a:srgbClr val="94A3B8"/>
                </a:solidFill>
              </a:rPr>
              <a:t>Assigns precise ownership vectors to every segment of data integration. Prevents tracking gaps, locks down data validity, and highlights step responsibility.</a:t>
            </a:r>
          </a:p>
          <a:p>
            <a:pPr>
              <a:spcAft>
                <a:spcPts val="1600"/>
              </a:spcAft>
              <a:defRPr sz="1300" b="1">
                <a:solidFill>
                  <a:srgbClr val="10B981"/>
                </a:solidFill>
              </a:defRPr>
            </a:pPr>
            <a:r>
              <a:rPr sz="1600" dirty="0"/>
              <a:t>📈 4. Eliminating Waste (Non-Productive Action Cleansed): </a:t>
            </a:r>
            <a:r>
              <a:rPr sz="1600" b="0" dirty="0">
                <a:solidFill>
                  <a:srgbClr val="94A3B8"/>
                </a:solidFill>
              </a:rPr>
              <a:t>Kills repetitive data manipulation, double manual review cycles, and spreadsheet corrections. Removes operational delays </a:t>
            </a:r>
            <a:r>
              <a:rPr b="0" dirty="0">
                <a:solidFill>
                  <a:srgbClr val="94A3B8"/>
                </a:solidFill>
              </a:rPr>
              <a:t>entirely.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478EF1-9040-1427-E354-887EC7607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1769" y="214705"/>
            <a:ext cx="12877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rPr dirty="0"/>
              <a:t>Strategic Business Advantages: Growth &amp; System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91672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600"/>
              </a:spcAft>
              <a:defRPr sz="1300" b="1">
                <a:solidFill>
                  <a:srgbClr val="10B981"/>
                </a:solidFill>
              </a:defRPr>
            </a:pPr>
            <a:r>
              <a:rPr sz="1600" dirty="0"/>
              <a:t>🚀 5. Driving Scalable Business Volume: </a:t>
            </a:r>
            <a:r>
              <a:rPr sz="1600" b="0" dirty="0">
                <a:solidFill>
                  <a:srgbClr val="94A3B8"/>
                </a:solidFill>
              </a:rPr>
              <a:t>Faster parsing speeds let engineering teams respond to customer quotes instantly, capturing higher transaction volumes and winning more market opportunities</a:t>
            </a:r>
            <a:r>
              <a:rPr lang="en-GB" sz="1600" dirty="0">
                <a:solidFill>
                  <a:srgbClr val="94A3B8"/>
                </a:solidFill>
              </a:rPr>
              <a:t>, increase in costumer confidence.</a:t>
            </a:r>
            <a:endParaRPr sz="1600" b="0" dirty="0">
              <a:solidFill>
                <a:srgbClr val="94A3B8"/>
              </a:solidFill>
            </a:endParaRPr>
          </a:p>
          <a:p>
            <a:pPr>
              <a:spcAft>
                <a:spcPts val="1600"/>
              </a:spcAft>
              <a:defRPr sz="1300" b="1">
                <a:solidFill>
                  <a:srgbClr val="10B981"/>
                </a:solidFill>
              </a:defRPr>
            </a:pPr>
            <a:r>
              <a:rPr sz="1600" dirty="0"/>
              <a:t>🚀 6.  Central Control (Single-Screen Dashboard): </a:t>
            </a:r>
            <a:r>
              <a:rPr sz="1600" b="0" dirty="0">
                <a:solidFill>
                  <a:srgbClr val="94A3B8"/>
                </a:solidFill>
              </a:rPr>
              <a:t>Consolidates multi-department actions into one single accessible dashboard monitor</a:t>
            </a:r>
            <a:r>
              <a:rPr lang="en-GB" sz="1600" b="0" dirty="0">
                <a:solidFill>
                  <a:srgbClr val="94A3B8"/>
                </a:solidFill>
              </a:rPr>
              <a:t>,</a:t>
            </a:r>
            <a:r>
              <a:rPr sz="1600" b="0" dirty="0">
                <a:solidFill>
                  <a:srgbClr val="94A3B8"/>
                </a:solidFill>
              </a:rPr>
              <a:t> provides cross-team insight </a:t>
            </a:r>
            <a:r>
              <a:rPr lang="en-GB" sz="1600" b="0" dirty="0">
                <a:solidFill>
                  <a:srgbClr val="94A3B8"/>
                </a:solidFill>
              </a:rPr>
              <a:t>at all levels </a:t>
            </a:r>
            <a:r>
              <a:rPr sz="1600" b="0" dirty="0">
                <a:solidFill>
                  <a:srgbClr val="94A3B8"/>
                </a:solidFill>
              </a:rPr>
              <a:t>on any device.</a:t>
            </a:r>
          </a:p>
          <a:p>
            <a:pPr>
              <a:spcAft>
                <a:spcPts val="1600"/>
              </a:spcAft>
              <a:defRPr sz="1300" b="1">
                <a:solidFill>
                  <a:srgbClr val="10B981"/>
                </a:solidFill>
              </a:defRPr>
            </a:pPr>
            <a:r>
              <a:rPr sz="1600" dirty="0"/>
              <a:t>🚀 7. Real-Time Integration with Enterprise Resource Planning (ERP): </a:t>
            </a:r>
            <a:r>
              <a:rPr sz="1600" b="0" dirty="0">
                <a:solidFill>
                  <a:srgbClr val="94A3B8"/>
                </a:solidFill>
              </a:rPr>
              <a:t>Keeps master databases up to date with automated record pipelines, removing the delayed synchronization lag standard in manual data entry loops.</a:t>
            </a:r>
          </a:p>
          <a:p>
            <a:pPr>
              <a:spcAft>
                <a:spcPts val="1600"/>
              </a:spcAft>
              <a:defRPr sz="1300" b="1">
                <a:solidFill>
                  <a:srgbClr val="10B981"/>
                </a:solidFill>
              </a:defRPr>
            </a:pPr>
            <a:r>
              <a:rPr sz="1600" dirty="0"/>
              <a:t>🚀 8. Data-Driven Insights (Daily Success </a:t>
            </a:r>
            <a:r>
              <a:rPr lang="en-GB" sz="1600" dirty="0"/>
              <a:t>records</a:t>
            </a:r>
            <a:r>
              <a:rPr sz="1600" dirty="0"/>
              <a:t>): </a:t>
            </a:r>
            <a:r>
              <a:rPr sz="1600" b="0" dirty="0">
                <a:solidFill>
                  <a:srgbClr val="94A3B8"/>
                </a:solidFill>
              </a:rPr>
              <a:t>The telemetry layer computes and prints daily success rates on the dashboard, giving managers immediate clarity on parsing quality trends</a:t>
            </a:r>
            <a:r>
              <a:rPr b="0" dirty="0">
                <a:solidFill>
                  <a:srgbClr val="94A3B8"/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D8B256-9AD4-DBA0-3185-3F1919B1A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1769" y="205740"/>
            <a:ext cx="12877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Enterprise Operations Control Screen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1672" cy="4937760"/>
          </a:xfrm>
          <a:prstGeom prst="rect">
            <a:avLst/>
          </a:prstGeom>
          <a:solidFill>
            <a:srgbClr val="0F172A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011680" cy="4937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 MetaVal OS</a:t>
            </a:r>
            <a:br/>
            <a:br/>
            <a:r>
              <a:t> 📊 Overview</a:t>
            </a:r>
            <a:br/>
            <a:r>
              <a:t> 🗃️ Traceability</a:t>
            </a:r>
            <a:br/>
            <a:r>
              <a:t> ⚙️ ERP Synced</a:t>
            </a:r>
            <a:br/>
            <a:r>
              <a:t> 💬 Anomalies 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554480"/>
            <a:ext cx="201168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t>TOTAL UPLOADS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14,250 Files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554480"/>
            <a:ext cx="201168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t>EMAIL REVERTS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0 Pending ✅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554480"/>
            <a:ext cx="201168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t>DAILY UPDATES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+342 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9720" y="1554480"/>
            <a:ext cx="201168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t>DAILY SUCCESS RATE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98.4% Accuracy Ticker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560320"/>
            <a:ext cx="4114800" cy="731520"/>
          </a:xfrm>
          <a:prstGeom prst="rect">
            <a:avLst/>
          </a:prstGeom>
          <a:solidFill>
            <a:srgbClr val="1E293B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📤 Manual Ingestion Box (Multer Hook)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2560320"/>
            <a:ext cx="4297680" cy="73152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0B981"/>
                </a:solidFill>
              </a:defRPr>
            </a:pPr>
            <a:r>
              <a:t>📥 Direct Excel Output Export (.xlsx)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3474720"/>
            <a:ext cx="859536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F8FAFC"/>
                </a:solidFill>
              </a:defRPr>
            </a:pPr>
            <a:r>
              <a:t>  Traceability Ledger — Real-Time Parts Auditing Logs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Consolas"/>
              </a:defRPr>
            </a:pPr>
            <a:r>
              <a:t>   Part Serial      Quoted To     Status            Accountability Signature</a:t>
            </a:r>
          </a:p>
          <a:p>
            <a:pPr>
              <a:defRPr sz="1000">
                <a:solidFill>
                  <a:srgbClr val="10B981"/>
                </a:solidFill>
                <a:latin typeface="Consolas"/>
              </a:defRPr>
            </a:pPr>
            <a:r>
              <a:t>   P-100-9921     Logistics B    [VALIDATED ✅]     Operator ID: #9042 (Synced to ERP)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9E9AA3-BC85-CD97-C3D6-6E7108485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1769" y="205740"/>
            <a:ext cx="12877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Production Technology Stack &amp; Dependencies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56032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Core 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371600"/>
            <a:ext cx="83210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rPr sz="1600" dirty="0"/>
              <a:t>Node.js (Express) &amp; React.js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400" dirty="0"/>
              <a:t>Forms a clean, full-stack environment running VITE on the frontend for snappy UI state changes and Express for file routing.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256032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Extraction Engines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377440"/>
            <a:ext cx="83210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rPr sz="1600" dirty="0"/>
              <a:t>pdf-parse / Tesseract.js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400" dirty="0"/>
              <a:t>Uses dual-path parsing logic: instant text reads for selectable files, and automatic pdf-</a:t>
            </a:r>
            <a:r>
              <a:rPr sz="1400" dirty="0" err="1"/>
              <a:t>poppler</a:t>
            </a:r>
            <a:r>
              <a:rPr sz="1400" dirty="0"/>
              <a:t> rendering for image-scanned OCR 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256032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Grid Reconstruction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383280"/>
            <a:ext cx="83210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rPr sz="1600" dirty="0"/>
              <a:t>pdf2json matrix maps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400" dirty="0"/>
              <a:t>Extracts underlying layout coordinates to reconstruct cells into precise JSON structures, preserving row/column relationships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480560"/>
            <a:ext cx="256032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Enterprise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4389120"/>
            <a:ext cx="83210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rPr sz="1600" dirty="0"/>
              <a:t>PostgreSQL (JSONB Storage)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400" dirty="0"/>
              <a:t>Saves varying tabular data inside high-performance JSONB formats, allowing deep index searches without altering static core database systems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486400"/>
            <a:ext cx="256032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Output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5394960"/>
            <a:ext cx="83210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rPr sz="1600" dirty="0" err="1"/>
              <a:t>ExcelJS</a:t>
            </a:r>
            <a:r>
              <a:rPr sz="1600" dirty="0"/>
              <a:t>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rPr sz="1400" dirty="0"/>
              <a:t>Bypasses risky, format-breaking CSV translation entirely, exporting records straight from memory buffers into fixed cell locations.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0E0DCF5-BC75-0EF0-CD4D-24115D581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1769" y="205740"/>
            <a:ext cx="1287780" cy="6172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684</Words>
  <Application>Microsoft Office PowerPoint</Application>
  <PresentationFormat>Custom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Mohit Sharma</cp:lastModifiedBy>
  <cp:revision>10</cp:revision>
  <dcterms:created xsi:type="dcterms:W3CDTF">2013-01-27T09:14:16Z</dcterms:created>
  <dcterms:modified xsi:type="dcterms:W3CDTF">2026-05-21T11:51:28Z</dcterms:modified>
  <cp:category/>
</cp:coreProperties>
</file>